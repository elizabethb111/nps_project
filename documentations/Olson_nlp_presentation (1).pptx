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MpDGBpGRo5uZ3KhizrLpuOOot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Opening: explain the motivation briefly — visitors need to translate alerts into decisions, not just read broad NPS categories.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frames the concrete problem: the same original label can hide different visitor decisions.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summarization was considered but dropped to keep the project focused and evaluable.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the class imbalance: road and facility are common; wildlife and general/minor are rare. This justifies Macro F1.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an example: road closed for construction = transportation primary; construction may be secondary context.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professor guidance: report both, but held-out parks are the main result.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sequence shows that the project was not an LLM-only prompting exercise.</a:t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d11dd905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7d11dd905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helps show that you did try BERT and learned something from it. The result is not a failure; it is a useful model-selection finding.</a:t>
            </a:r>
            <a:endParaRPr/>
          </a:p>
        </p:txBody>
      </p:sp>
      <p:sp>
        <p:nvSpPr>
          <p:cNvPr id="194" name="Google Shape;194;g3f7d11dd905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Interpret: sentence embeddings were better than TF-IDF and fine-tuned DistilBERT in the primary evaluation.</a:t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slide to explain why the professor’s held-out-park guidance mattered.</a:t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the rare class caution explicit. Wildlife looks good but is not stable with n=2.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one example: Upper Rhyolite Trail Closure looked like trail access, but the gold label prioritized environmental hazard.</a:t>
            </a:r>
            <a:endParaRPr/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fixed held-out score is strong, but grouped CV shows that some park groups are harder than others.</a:t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58fa2781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58fa2781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58fa2781d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58fa2781d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Mention the impact labels if someone asks: they are a good future work layer, not the core classification target.</a:t>
            </a:r>
            <a:endParaRPr/>
          </a:p>
        </p:txBody>
      </p:sp>
      <p:sp>
        <p:nvSpPr>
          <p:cNvPr id="303" name="Google Shape;303;g3f58fa2781d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returning to the practical goal: turning official alerts into categories that help visitors decide what to do.</a:t>
            </a:r>
            <a:endParaRPr/>
          </a:p>
        </p:txBody>
      </p:sp>
      <p:sp>
        <p:nvSpPr>
          <p:cNvPr id="317" name="Google Shape;3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7d11dd905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7d11dd905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emphasizing that the project is about turning authoritative alert text into practical decision categories.</a:t>
            </a:r>
            <a:endParaRPr/>
          </a:p>
        </p:txBody>
      </p:sp>
      <p:sp>
        <p:nvSpPr>
          <p:cNvPr id="337" name="Google Shape;337;g3f7d11dd905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8fa2781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58fa2781d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8fa2781d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58fa2781d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58fa2781d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58fa2781d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PSTheme">
  <p:cSld name="NPSTheme">
    <p:bg>
      <p:bgPr>
        <a:solidFill>
          <a:srgbClr val="F8F7F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6F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g3f7d11dd905_0_2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10150">
            <a:solidFill>
              <a:srgbClr val="B7C4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g3f7d11dd905_0_23"/>
          <p:cNvSpPr txBox="1"/>
          <p:nvPr>
            <p:ph idx="12" type="sldNum"/>
          </p:nvPr>
        </p:nvSpPr>
        <p:spPr>
          <a:xfrm>
            <a:off x="1129284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D2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notch_trail_sign.jp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13000" r="36626" t="8000"/>
          <a:stretch/>
        </p:blipFill>
        <p:spPr>
          <a:xfrm>
            <a:off x="6537960" y="0"/>
            <a:ext cx="56509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594360" y="1051560"/>
            <a:ext cx="5257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From Park Alerts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to </a:t>
            </a:r>
            <a:r>
              <a:rPr b="1" lang="en-US" sz="3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Making</a:t>
            </a: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Decisions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21792" y="292608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0CF"/>
              </a:buClr>
              <a:buSzPts val="1700"/>
              <a:buFont typeface="Arial"/>
              <a:buNone/>
            </a:pPr>
            <a:r>
              <a:rPr b="0" i="0" lang="en-US" sz="2300" u="none" cap="none" strike="noStrike">
                <a:solidFill>
                  <a:srgbClr val="E7E0CF"/>
                </a:solidFill>
                <a:latin typeface="Arial"/>
                <a:ea typeface="Arial"/>
                <a:cs typeface="Arial"/>
                <a:sym typeface="Arial"/>
              </a:rPr>
              <a:t>Classifying National Park Service alerts by practical visitor impact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621792" y="3703320"/>
            <a:ext cx="4297680" cy="0"/>
          </a:xfrm>
          <a:prstGeom prst="straightConnector1">
            <a:avLst/>
          </a:prstGeom>
          <a:noFill/>
          <a:ln cap="flat" cmpd="sng" w="31750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The problem: official categories are broad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Visitors need to know what part of the trip is affected.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1417325"/>
            <a:ext cx="7355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“Park Closure” can mean  different things.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2423160"/>
            <a:ext cx="3337560" cy="118872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0150">
            <a:solidFill>
              <a:srgbClr val="D5D0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22960" y="2532888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Trail closed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→ choose another route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434840" y="2423160"/>
            <a:ext cx="3337560" cy="118872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0150">
            <a:solidFill>
              <a:srgbClr val="D5D0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0" y="2532888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Road or parking limited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→ change logistics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183880" y="2423160"/>
            <a:ext cx="3337560" cy="118872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0150">
            <a:solidFill>
              <a:srgbClr val="D5D0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321040" y="2532888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Facility unavailable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→ prepare differently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3912225"/>
            <a:ext cx="10561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2000"/>
              <a:buFont typeface="Arial"/>
              <a:buNone/>
            </a:pPr>
            <a:r>
              <a:rPr b="0" i="0" lang="en-US" sz="21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Official alert categories do not always answer the visitor’s decision question. </a:t>
            </a:r>
            <a:endParaRPr b="0" i="0" sz="2100" u="none" cap="none" strike="noStrike">
              <a:solidFill>
                <a:srgbClr val="1E24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2000"/>
              <a:buFont typeface="Arial"/>
              <a:buNone/>
            </a:pPr>
            <a:r>
              <a:rPr lang="en-US" sz="1550">
                <a:solidFill>
                  <a:srgbClr val="20332B"/>
                </a:solidFill>
              </a:rPr>
              <a:t>What should I do?</a:t>
            </a:r>
            <a:r>
              <a:rPr lang="en-US" sz="1550">
                <a:solidFill>
                  <a:schemeClr val="dk1"/>
                </a:solidFill>
              </a:rPr>
              <a:t> </a:t>
            </a:r>
            <a:r>
              <a:rPr lang="en-US" sz="1550">
                <a:solidFill>
                  <a:srgbClr val="20332B"/>
                </a:solidFill>
              </a:rPr>
              <a:t>Change route? Reserve parking? Avoid an area? Prepare for weather? Just note information?</a:t>
            </a:r>
            <a:endParaRPr sz="2400">
              <a:solidFill>
                <a:srgbClr val="1E2420"/>
              </a:solidFill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2194560" y="5492931"/>
            <a:ext cx="7498200" cy="0"/>
          </a:xfrm>
          <a:prstGeom prst="straightConnector1">
            <a:avLst/>
          </a:prstGeom>
          <a:noFill/>
          <a:ln cap="flat" cmpd="sng" w="254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1375525" y="5681025"/>
            <a:ext cx="8993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Can NLP turn official alerts into practical trip-impact categories?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Research question and contribution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3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58375" y="1143000"/>
            <a:ext cx="108813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Can traditional and transformer-based NLP methods classify NPS alerts by six traveler-centered alert-impact categories</a:t>
            </a:r>
            <a:r>
              <a:rPr b="1" lang="en-US" sz="2500">
                <a:solidFill>
                  <a:srgbClr val="143D2C"/>
                </a:solidFill>
              </a:rPr>
              <a:t>,</a:t>
            </a:r>
            <a:r>
              <a:rPr b="1" i="0" lang="en-US" sz="25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 especially on parks the model has never seen?</a:t>
            </a:r>
            <a:endParaRPr b="1" i="0" sz="2500" u="none" cap="none" strike="noStrike">
              <a:solidFill>
                <a:srgbClr val="143D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500"/>
              <a:buFont typeface="Arial"/>
              <a:buNone/>
            </a:pPr>
            <a:r>
              <a:t/>
            </a:r>
            <a:endParaRPr b="1" sz="2500">
              <a:solidFill>
                <a:srgbClr val="143D2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143D2C"/>
                </a:solidFill>
              </a:rPr>
              <a:t>Can NLP models classify alerts into three levels of practical trip impact: trip-changing, preparation required, or informational/minimal impact?</a:t>
            </a:r>
            <a:endParaRPr b="1" sz="2500">
              <a:solidFill>
                <a:srgbClr val="143D2C"/>
              </a:solidFill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85800" y="4111025"/>
            <a:ext cx="502800" cy="502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13816" y="4211609"/>
            <a:ext cx="23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344168" y="4056161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E2420"/>
                </a:solidFill>
              </a:rPr>
              <a:t>T</a:t>
            </a:r>
            <a:r>
              <a:rPr b="1" i="0" lang="en-US" sz="14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axonomy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344168" y="4412777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Six categories tied to trip decisions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11880" y="4111025"/>
            <a:ext cx="502800" cy="502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739896" y="4211609"/>
            <a:ext cx="23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270248" y="4056161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E2420"/>
                </a:solidFill>
              </a:rPr>
              <a:t>D</a:t>
            </a:r>
            <a:r>
              <a:rPr b="1" i="0" lang="en-US" sz="14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ataset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270248" y="4412777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300 eviewed alerts from 199 parks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37960" y="4111025"/>
            <a:ext cx="502800" cy="502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65976" y="4211609"/>
            <a:ext cx="23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196328" y="4056161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E2420"/>
                </a:solidFill>
              </a:rPr>
              <a:t>G</a:t>
            </a:r>
            <a:r>
              <a:rPr b="1" i="0" lang="en-US" sz="14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eneralization test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196328" y="4412777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Held-out parks as the primary evaluation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464040" y="4111025"/>
            <a:ext cx="502800" cy="502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592056" y="4211609"/>
            <a:ext cx="23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122408" y="4056161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122408" y="4412777"/>
            <a:ext cx="196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Rules, TF-IDF, embeddings, and DistilBERT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896112" y="5665505"/>
            <a:ext cx="10149900" cy="0"/>
          </a:xfrm>
          <a:prstGeom prst="straightConnector1">
            <a:avLst/>
          </a:prstGeom>
          <a:noFill/>
          <a:ln cap="flat" cmpd="sng" w="15225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Data: official NPS alerts, manually reviewed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4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4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9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A small, real dataset with many parks and imbalanced classes.</a:t>
            </a:r>
            <a:endParaRPr b="0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85800" y="129844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43D2C"/>
                </a:solidFill>
              </a:rPr>
              <a:t>Data Collection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22960" y="1933303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NPS API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22960" y="2225911"/>
            <a:ext cx="4251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Collected active alert titles, descriptions, park codes, and categories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822960" y="2683111"/>
            <a:ext cx="3566100" cy="0"/>
          </a:xfrm>
          <a:prstGeom prst="straightConnector1">
            <a:avLst/>
          </a:prstGeom>
          <a:noFill/>
          <a:ln cap="flat" cmpd="sng" w="12700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822960" y="2920855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626 usable alerts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2960" y="3213463"/>
            <a:ext cx="4251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After removing one test alert and inspecting raw fields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822960" y="3670663"/>
            <a:ext cx="3566100" cy="0"/>
          </a:xfrm>
          <a:prstGeom prst="straightConnector1">
            <a:avLst/>
          </a:prstGeom>
          <a:noFill/>
          <a:ln cap="flat" cmpd="sng" w="12700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822960" y="3908407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300 </a:t>
            </a: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lerts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22960" y="4201015"/>
            <a:ext cx="4251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Manually reviewed and labeled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4"/>
          <p:cNvCxnSpPr/>
          <p:nvPr/>
        </p:nvCxnSpPr>
        <p:spPr>
          <a:xfrm>
            <a:off x="822960" y="4658215"/>
            <a:ext cx="3566100" cy="0"/>
          </a:xfrm>
          <a:prstGeom prst="straightConnector1">
            <a:avLst/>
          </a:prstGeom>
          <a:noFill/>
          <a:ln cap="flat" cmpd="sng" w="12700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4"/>
          <p:cNvSpPr/>
          <p:nvPr/>
        </p:nvSpPr>
        <p:spPr>
          <a:xfrm>
            <a:off x="822960" y="4895959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199 parks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22960" y="5188567"/>
            <a:ext cx="4251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Broad park coverage for transfer evaluation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850" y="1826100"/>
            <a:ext cx="6886376" cy="42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Traveler-centered taxonomy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5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Labels represent the main practical consequence for a visitor.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85800" y="123444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Trail / area access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85800" y="15544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Can I still reach this trail, beach, route, or area?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685800" y="219456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/>
          <p:nvPr/>
        </p:nvSpPr>
        <p:spPr>
          <a:xfrm>
            <a:off x="685800" y="265176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Road / parking / transportation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5800" y="29718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Do I need to change how I get there or move around?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>
            <a:off x="685800" y="361188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/>
          <p:nvPr/>
        </p:nvSpPr>
        <p:spPr>
          <a:xfrm>
            <a:off x="685800" y="406908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Weather / fire / environmental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85800" y="438912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Is there a safety condition that changes the risk?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685800" y="502920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6446520" y="123444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Wildlife hazard / restriction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446520" y="15544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Is wildlife activity creating a hazard or restriction?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6446520" y="219456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6446520" y="265176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Facility / campground / service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46520" y="29718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Will visitor services, campgrounds, water, or facilities be unavailable?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6446520" y="361188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5"/>
          <p:cNvSpPr/>
          <p:nvPr/>
        </p:nvSpPr>
        <p:spPr>
          <a:xfrm>
            <a:off x="6446520" y="406908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General / minor issue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446520" y="438912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Is this mostly informational or administrative?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6446520" y="502920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D6C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1371600" y="5532120"/>
            <a:ext cx="9509760" cy="621792"/>
          </a:xfrm>
          <a:prstGeom prst="roundRect">
            <a:avLst>
              <a:gd fmla="val 8824" name="adj"/>
            </a:avLst>
          </a:prstGeom>
          <a:solidFill>
            <a:srgbClr val="EFE4CF"/>
          </a:solidFill>
          <a:ln cap="flat" cmpd="sng" w="12700">
            <a:solidFill>
              <a:srgbClr val="EFE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600200" y="5705856"/>
            <a:ext cx="9052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Annotation rule: label the visitor-facing consequence, not</a:t>
            </a:r>
            <a:r>
              <a:rPr b="1" lang="en-US" sz="1600">
                <a:solidFill>
                  <a:srgbClr val="143D2C"/>
                </a:solidFill>
              </a:rPr>
              <a:t> </a:t>
            </a: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the underlying cause.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Evaluation design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Held-out parks were the primary test of generalization.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77240" y="11887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Held-out-park split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77240" y="160020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No park appears in more than one partition.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2960" y="2240280"/>
            <a:ext cx="1417320" cy="96012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96112" y="2359152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96112" y="267004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211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139 parks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560320" y="2240280"/>
            <a:ext cx="1417320" cy="96012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633472" y="2359152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633472" y="267004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44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30 parks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297680" y="2240280"/>
            <a:ext cx="1417320" cy="960120"/>
          </a:xfrm>
          <a:prstGeom prst="roundRect">
            <a:avLst>
              <a:gd fmla="val 4762" name="adj"/>
            </a:avLst>
          </a:prstGeom>
          <a:solidFill>
            <a:srgbClr val="143D2C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370832" y="2359152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370832" y="2670048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0C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7E0CF"/>
                </a:solidFill>
                <a:latin typeface="Arial"/>
                <a:ea typeface="Arial"/>
                <a:cs typeface="Arial"/>
                <a:sym typeface="Arial"/>
              </a:rPr>
              <a:t>45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0C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7E0CF"/>
                </a:solidFill>
                <a:latin typeface="Arial"/>
                <a:ea typeface="Arial"/>
                <a:cs typeface="Arial"/>
                <a:sym typeface="Arial"/>
              </a:rPr>
              <a:t>30 parks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868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Question answered: Can the model transfer to parks it has never seen?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46520" y="11887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Mixed-park split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46520" y="160020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Parks can overlap across partitions.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583680" y="2240280"/>
            <a:ext cx="1280160" cy="96012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656832" y="2377440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656832" y="2761488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210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29600" y="2240280"/>
            <a:ext cx="1280160" cy="96012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8302752" y="2377440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302752" y="2761488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45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875520" y="2240280"/>
            <a:ext cx="1280160" cy="96012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9948672" y="2377440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948672" y="2761488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45 alerts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537960" y="370332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Question answered: How well does the model classify alerts when park-specific language may be familiar?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Models compared: from simple to modern NLP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94360" y="1508760"/>
            <a:ext cx="2057400" cy="237744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0C6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31520" y="16733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58952" y="21305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Majority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58952" y="2679192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sanity-check baseline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898648" y="1645920"/>
            <a:ext cx="2057400" cy="237744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0C6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035808" y="181051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063240" y="226771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063240" y="2816352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hand-built keyword patterns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202936" y="1783080"/>
            <a:ext cx="2057400" cy="237744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0C6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340096" y="19476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367528" y="240487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367528" y="2953512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sparse lexical features + logistic regression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507224" y="1920240"/>
            <a:ext cx="2057400" cy="2377440"/>
          </a:xfrm>
          <a:prstGeom prst="roundRect">
            <a:avLst>
              <a:gd fmla="val 2222" name="adj"/>
            </a:avLst>
          </a:prstGeom>
          <a:solidFill>
            <a:srgbClr val="143D2C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7644384" y="20848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7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C7A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671816" y="254203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Sentence embeddings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671816" y="3090672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0C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E7E0CF"/>
                </a:solidFill>
                <a:latin typeface="Arial"/>
                <a:ea typeface="Arial"/>
                <a:cs typeface="Arial"/>
                <a:sym typeface="Arial"/>
              </a:rPr>
              <a:t>all-MiniLM-L6-v2 + logistic regression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811512" y="2057400"/>
            <a:ext cx="2057400" cy="237744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0C6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9948672" y="222199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976104" y="267919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976104" y="3227832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fine-tuned sequence classifier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238350" y="5257800"/>
            <a:ext cx="1042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B35C2E"/>
                </a:solidFill>
              </a:rPr>
              <a:t>Best Macro F1 performance</a:t>
            </a:r>
            <a:r>
              <a:rPr b="1" i="0" lang="en-US" sz="220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: sentence embeddings + logistic regression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d11dd905_0_28"/>
          <p:cNvSpPr/>
          <p:nvPr/>
        </p:nvSpPr>
        <p:spPr>
          <a:xfrm>
            <a:off x="594360" y="420624"/>
            <a:ext cx="8595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20332B"/>
                </a:solidFill>
                <a:latin typeface="Play"/>
                <a:ea typeface="Play"/>
                <a:cs typeface="Play"/>
                <a:sym typeface="Play"/>
              </a:rPr>
              <a:t>Fine-tuning did not beat frozen embeddings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7d11dd905_0_28"/>
          <p:cNvSpPr/>
          <p:nvPr/>
        </p:nvSpPr>
        <p:spPr>
          <a:xfrm>
            <a:off x="594360" y="6446520"/>
            <a:ext cx="576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NLP Final Project | National Park Service Alerts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7d11dd905_0_28"/>
          <p:cNvSpPr/>
          <p:nvPr/>
        </p:nvSpPr>
        <p:spPr>
          <a:xfrm>
            <a:off x="1051560" y="132588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16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65716B"/>
                </a:solidFill>
                <a:latin typeface="Arial"/>
                <a:ea typeface="Arial"/>
                <a:cs typeface="Arial"/>
                <a:sym typeface="Arial"/>
              </a:rPr>
              <a:t>Held-out Macro F1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7d11dd905_0_28"/>
          <p:cNvSpPr/>
          <p:nvPr/>
        </p:nvSpPr>
        <p:spPr>
          <a:xfrm>
            <a:off x="960120" y="2057400"/>
            <a:ext cx="1737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0.764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7d11dd905_0_28"/>
          <p:cNvSpPr/>
          <p:nvPr/>
        </p:nvSpPr>
        <p:spPr>
          <a:xfrm>
            <a:off x="960120" y="262432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16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5716B"/>
                </a:solidFill>
                <a:latin typeface="Arial"/>
                <a:ea typeface="Arial"/>
                <a:cs typeface="Arial"/>
                <a:sym typeface="Arial"/>
              </a:rPr>
              <a:t>Sentence embeddings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7d11dd905_0_28"/>
          <p:cNvSpPr/>
          <p:nvPr/>
        </p:nvSpPr>
        <p:spPr>
          <a:xfrm>
            <a:off x="3154680" y="2057400"/>
            <a:ext cx="1737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E4E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2E5E4E"/>
                </a:solidFill>
                <a:latin typeface="Arial"/>
                <a:ea typeface="Arial"/>
                <a:cs typeface="Arial"/>
                <a:sym typeface="Arial"/>
              </a:rPr>
              <a:t>0.639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7d11dd905_0_28"/>
          <p:cNvSpPr/>
          <p:nvPr/>
        </p:nvSpPr>
        <p:spPr>
          <a:xfrm>
            <a:off x="3154680" y="262432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16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5716B"/>
                </a:solidFill>
                <a:latin typeface="Arial"/>
                <a:ea typeface="Arial"/>
                <a:cs typeface="Arial"/>
                <a:sym typeface="Arial"/>
              </a:rPr>
              <a:t>Fine-tuned DistilBERT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g3f7d11dd905_0_28"/>
          <p:cNvCxnSpPr/>
          <p:nvPr/>
        </p:nvCxnSpPr>
        <p:spPr>
          <a:xfrm>
            <a:off x="868680" y="3657600"/>
            <a:ext cx="4206300" cy="0"/>
          </a:xfrm>
          <a:prstGeom prst="straightConnector1">
            <a:avLst/>
          </a:prstGeom>
          <a:noFill/>
          <a:ln cap="flat" cmpd="sng" w="10150">
            <a:solidFill>
              <a:srgbClr val="6571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g3f7d11dd905_0_28"/>
          <p:cNvSpPr/>
          <p:nvPr/>
        </p:nvSpPr>
        <p:spPr>
          <a:xfrm>
            <a:off x="5486400" y="1371600"/>
            <a:ext cx="6304200" cy="3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0332B"/>
                </a:solidFill>
                <a:latin typeface="Arial"/>
                <a:ea typeface="Arial"/>
                <a:cs typeface="Arial"/>
                <a:sym typeface="Arial"/>
              </a:rPr>
              <a:t>DistilBERT trained end-to-end with class-weighted loss and early stopping.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0332B"/>
                </a:solidFill>
                <a:latin typeface="Arial"/>
                <a:ea typeface="Arial"/>
                <a:cs typeface="Arial"/>
                <a:sym typeface="Arial"/>
              </a:rPr>
              <a:t>It was stable across held-out and mixed settings, but not the best performer.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0332B"/>
                </a:solidFill>
                <a:latin typeface="Arial"/>
                <a:ea typeface="Arial"/>
                <a:cs typeface="Arial"/>
                <a:sym typeface="Arial"/>
              </a:rPr>
              <a:t>Likely reason: 300 labels were not enough for reliable end-to-end fine-tuning.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0332B"/>
                </a:solidFill>
                <a:latin typeface="Arial"/>
                <a:ea typeface="Arial"/>
                <a:cs typeface="Arial"/>
                <a:sym typeface="Arial"/>
              </a:rPr>
              <a:t>Frozen embeddings provided semantic information with a much lower-variance classifier.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7d11dd905_0_28"/>
          <p:cNvSpPr txBox="1"/>
          <p:nvPr>
            <p:ph idx="4294967295" type="sldNum"/>
          </p:nvPr>
        </p:nvSpPr>
        <p:spPr>
          <a:xfrm>
            <a:off x="1129284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8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8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6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Primary metric: Macro F1 on held-out parks.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_1_final_model_comparison.png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4552" y="1261872"/>
            <a:ext cx="7923855" cy="46451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6355080" y="6053328"/>
            <a:ext cx="5029200" cy="438912"/>
          </a:xfrm>
          <a:prstGeom prst="roundRect">
            <a:avLst>
              <a:gd fmla="val 8333" name="adj"/>
            </a:avLst>
          </a:prstGeom>
          <a:solidFill>
            <a:srgbClr val="143D2C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6537960" y="6172200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held-out Macro F1: 0.764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94360" y="420624"/>
            <a:ext cx="8595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2B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20332B"/>
                </a:solidFill>
                <a:latin typeface="Play"/>
                <a:ea typeface="Play"/>
                <a:cs typeface="Play"/>
                <a:sym typeface="Play"/>
              </a:rPr>
              <a:t>Sentence embeddings were strongest on unseen parks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Why held-out parks changed the story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Mixed-park performance alone would overstate TF-IDF generalization.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_2_generalization_gap.png" id="228" name="Google Shape;2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075617"/>
            <a:ext cx="5669280" cy="3255407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9"/>
          <p:cNvSpPr/>
          <p:nvPr/>
        </p:nvSpPr>
        <p:spPr>
          <a:xfrm>
            <a:off x="6720840" y="14173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720840" y="1965960"/>
            <a:ext cx="4892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TF-IDF gained most when parks were mixed across splits.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This suggests sensitivity to repeated park-specific wording.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Sentence embeddings did not show the same held-out decline, but the negative gap should be interpreted cautiously.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Grouped cross-validation helps contextualize split difficulty.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720840" y="4983480"/>
            <a:ext cx="4800600" cy="685800"/>
          </a:xfrm>
          <a:prstGeom prst="roundRect">
            <a:avLst>
              <a:gd fmla="val 5333" name="adj"/>
            </a:avLst>
          </a:prstGeom>
          <a:solidFill>
            <a:srgbClr val="EFE4CF"/>
          </a:solidFill>
          <a:ln cap="flat" cmpd="sng" w="12700">
            <a:solidFill>
              <a:srgbClr val="EFE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995160" y="5193792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Held-out parks are the headline result.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Selected model: where it worked best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10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0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Sentence embeddings recovered useful performance across all six classes.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_5_embedding_per_class_f1.png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9943"/>
            <a:ext cx="7452360" cy="456675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Class-level takeaways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229600" y="173736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Strongest on environmental and transportation alerts.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Wildlife looked strong, but only had 2 test cases.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General/minor remained weakest and most heterogeneous.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• Macro F1 was appropriate because class sizes were uneven.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229600" y="5029200"/>
            <a:ext cx="3474720" cy="685800"/>
          </a:xfrm>
          <a:prstGeom prst="roundRect">
            <a:avLst>
              <a:gd fmla="val 5333" name="adj"/>
            </a:avLst>
          </a:prstGeom>
          <a:solidFill>
            <a:srgbClr val="F3EAD9"/>
          </a:solidFill>
          <a:ln cap="flat" cmpd="sng" w="12700">
            <a:solidFill>
              <a:srgbClr val="F3E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8412480" y="51663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Accuracy alone would hide rare-class behavior.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Error analysis: most errors were boundary cases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1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The model usually confused reasonable neighboring interpretations.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_4_embedding_confusion_matrix.png" id="258" name="Google Shape;2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09" y="1298448"/>
            <a:ext cx="5590903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7086600" y="129844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Recurring error themes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7086600" y="1828800"/>
            <a:ext cx="4251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Cause vs consequence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086600" y="20848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Trail closure named in title; hazard described in body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086600" y="2743200"/>
            <a:ext cx="4251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Facility vs area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086600" y="29992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A lighthouse or plaza can be both a site and an access area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7086600" y="3657600"/>
            <a:ext cx="4251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Transportation vs service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086600" y="39136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Parking reservations and ride-share limits blur categories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086600" y="4572000"/>
            <a:ext cx="4251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2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B35C2E"/>
                </a:solidFill>
                <a:latin typeface="Arial"/>
                <a:ea typeface="Arial"/>
                <a:cs typeface="Arial"/>
                <a:sym typeface="Arial"/>
              </a:rPr>
              <a:t>Wildlife vs access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086600" y="48280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Animal language can override the practical restriction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1"/>
          <p:cNvCxnSpPr/>
          <p:nvPr/>
        </p:nvCxnSpPr>
        <p:spPr>
          <a:xfrm>
            <a:off x="7086600" y="5669280"/>
            <a:ext cx="4114800" cy="0"/>
          </a:xfrm>
          <a:prstGeom prst="straightConnector1">
            <a:avLst/>
          </a:prstGeom>
          <a:noFill/>
          <a:ln cap="flat" cmpd="sng" w="15225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1"/>
          <p:cNvSpPr/>
          <p:nvPr/>
        </p:nvSpPr>
        <p:spPr>
          <a:xfrm>
            <a:off x="7086600" y="587044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The taxonomy made a deliberate choice: practical consequence over surface wording.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43D2C"/>
                </a:solidFill>
                <a:latin typeface="Play"/>
                <a:ea typeface="Play"/>
                <a:cs typeface="Play"/>
                <a:sym typeface="Play"/>
              </a:rPr>
              <a:t>Robustness: performance varied by held-out park group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12"/>
          <p:cNvCxnSpPr/>
          <p:nvPr/>
        </p:nvCxnSpPr>
        <p:spPr>
          <a:xfrm>
            <a:off x="502920" y="841248"/>
            <a:ext cx="11155680" cy="0"/>
          </a:xfrm>
          <a:prstGeom prst="straightConnector1">
            <a:avLst/>
          </a:prstGeom>
          <a:noFill/>
          <a:ln cap="flat" cmpd="sng" w="15225">
            <a:solidFill>
              <a:srgbClr val="6E8B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2"/>
          <p:cNvSpPr/>
          <p:nvPr/>
        </p:nvSpPr>
        <p:spPr>
          <a:xfrm>
            <a:off x="521208" y="89611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756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F756F"/>
                </a:solidFill>
                <a:latin typeface="Arial"/>
                <a:ea typeface="Arial"/>
                <a:cs typeface="Arial"/>
                <a:sym typeface="Arial"/>
              </a:rPr>
              <a:t>Grouped cross-validation kept parks together and excluded the fixed held-out test set.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7B72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_6_grouped_cv_folds.png" id="280" name="Google Shape;2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809735"/>
            <a:ext cx="5715000" cy="3650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figure_7_heldout_vs_grouped_cv.png" id="281" name="Google Shape;2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897335"/>
            <a:ext cx="5440680" cy="347480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/>
          <p:nvPr/>
        </p:nvSpPr>
        <p:spPr>
          <a:xfrm>
            <a:off x="1828800" y="6172200"/>
            <a:ext cx="8503920" cy="329184"/>
          </a:xfrm>
          <a:prstGeom prst="roundRect">
            <a:avLst>
              <a:gd fmla="val 11111" name="adj"/>
            </a:avLst>
          </a:prstGeom>
          <a:solidFill>
            <a:srgbClr val="143D2C"/>
          </a:solidFill>
          <a:ln cap="flat" cmpd="sng" w="12700">
            <a:solidFill>
              <a:srgbClr val="143D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2057400" y="6272784"/>
            <a:ext cx="8046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Grouped-CV Macro F1: 0.679 ± 0.084; fixed held-out: 0.764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8fa2781d_0_2"/>
          <p:cNvSpPr txBox="1"/>
          <p:nvPr/>
        </p:nvSpPr>
        <p:spPr>
          <a:xfrm>
            <a:off x="502920" y="310896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412F"/>
                </a:solidFill>
                <a:latin typeface="Play"/>
                <a:ea typeface="Play"/>
                <a:cs typeface="Play"/>
                <a:sym typeface="Play"/>
              </a:rPr>
              <a:t>Secondary analysis: predicting practical impact level</a:t>
            </a:r>
            <a:endParaRPr/>
          </a:p>
        </p:txBody>
      </p:sp>
      <p:sp>
        <p:nvSpPr>
          <p:cNvPr id="290" name="Google Shape;290;g3f58fa2781d_0_2"/>
          <p:cNvSpPr/>
          <p:nvPr/>
        </p:nvSpPr>
        <p:spPr>
          <a:xfrm>
            <a:off x="502920" y="832104"/>
            <a:ext cx="11201400" cy="13800"/>
          </a:xfrm>
          <a:prstGeom prst="rect">
            <a:avLst/>
          </a:prstGeom>
          <a:solidFill>
            <a:srgbClr val="5D7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58fa2781d_0_2"/>
          <p:cNvSpPr txBox="1"/>
          <p:nvPr/>
        </p:nvSpPr>
        <p:spPr>
          <a:xfrm>
            <a:off x="512064" y="923544"/>
            <a:ext cx="9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7670"/>
                </a:solidFill>
                <a:latin typeface="Arial"/>
                <a:ea typeface="Arial"/>
                <a:cs typeface="Arial"/>
                <a:sym typeface="Arial"/>
              </a:rPr>
              <a:t>Three-level impact classification directly addresses visitor decision-making.</a:t>
            </a:r>
            <a:endParaRPr/>
          </a:p>
        </p:txBody>
      </p:sp>
      <p:pic>
        <p:nvPicPr>
          <p:cNvPr descr="impact_model_comparison_slide.png" id="292" name="Google Shape;292;g3f58fa2781d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35024"/>
            <a:ext cx="6766562" cy="343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f58fa2781d_0_2"/>
          <p:cNvSpPr/>
          <p:nvPr/>
        </p:nvSpPr>
        <p:spPr>
          <a:xfrm>
            <a:off x="7818120" y="1481328"/>
            <a:ext cx="3337500" cy="530400"/>
          </a:xfrm>
          <a:prstGeom prst="roundRect">
            <a:avLst>
              <a:gd fmla="val 16667" name="adj"/>
            </a:avLst>
          </a:prstGeom>
          <a:solidFill>
            <a:srgbClr val="15412F"/>
          </a:solidFill>
          <a:ln cap="flat" cmpd="sng" w="9525">
            <a:solidFill>
              <a:srgbClr val="1541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Held-out Macro F1: 0.619</a:t>
            </a:r>
            <a:endParaRPr/>
          </a:p>
        </p:txBody>
      </p:sp>
      <p:sp>
        <p:nvSpPr>
          <p:cNvPr id="294" name="Google Shape;294;g3f58fa2781d_0_2"/>
          <p:cNvSpPr/>
          <p:nvPr/>
        </p:nvSpPr>
        <p:spPr>
          <a:xfrm>
            <a:off x="7818120" y="2148840"/>
            <a:ext cx="3337500" cy="530400"/>
          </a:xfrm>
          <a:prstGeom prst="roundRect">
            <a:avLst>
              <a:gd fmla="val 16667" name="adj"/>
            </a:avLst>
          </a:prstGeom>
          <a:solidFill>
            <a:srgbClr val="15412F"/>
          </a:solidFill>
          <a:ln cap="flat" cmpd="sng" w="9525">
            <a:solidFill>
              <a:srgbClr val="1541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Mixed-park Macro F1: 0.698</a:t>
            </a:r>
            <a:endParaRPr/>
          </a:p>
        </p:txBody>
      </p:sp>
      <p:sp>
        <p:nvSpPr>
          <p:cNvPr id="295" name="Google Shape;295;g3f58fa2781d_0_2"/>
          <p:cNvSpPr/>
          <p:nvPr/>
        </p:nvSpPr>
        <p:spPr>
          <a:xfrm>
            <a:off x="7818120" y="2816352"/>
            <a:ext cx="3337500" cy="530400"/>
          </a:xfrm>
          <a:prstGeom prst="roundRect">
            <a:avLst>
              <a:gd fmla="val 16667" name="adj"/>
            </a:avLst>
          </a:prstGeom>
          <a:solidFill>
            <a:srgbClr val="F2E7D3"/>
          </a:solidFill>
          <a:ln cap="flat" cmpd="sng" w="9525">
            <a:solidFill>
              <a:srgbClr val="F2E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Majority baseline: 0.244</a:t>
            </a:r>
            <a:endParaRPr/>
          </a:p>
        </p:txBody>
      </p:sp>
      <p:sp>
        <p:nvSpPr>
          <p:cNvPr id="296" name="Google Shape;296;g3f58fa2781d_0_2"/>
          <p:cNvSpPr txBox="1"/>
          <p:nvPr/>
        </p:nvSpPr>
        <p:spPr>
          <a:xfrm>
            <a:off x="7790688" y="3712463"/>
            <a:ext cx="35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297" name="Google Shape;297;g3f58fa2781d_0_2"/>
          <p:cNvSpPr txBox="1"/>
          <p:nvPr/>
        </p:nvSpPr>
        <p:spPr>
          <a:xfrm>
            <a:off x="7818120" y="4096512"/>
            <a:ext cx="34746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Sentence embeddings had the strongest class-balanced performance.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TF-IDF had slightly higher held-out accuracy, so Macro F1 is the fairer headline metric.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The rare informational class still needs more evidence.</a:t>
            </a:r>
            <a:endParaRPr/>
          </a:p>
        </p:txBody>
      </p:sp>
      <p:sp>
        <p:nvSpPr>
          <p:cNvPr id="298" name="Google Shape;298;g3f58fa2781d_0_2"/>
          <p:cNvSpPr txBox="1"/>
          <p:nvPr/>
        </p:nvSpPr>
        <p:spPr>
          <a:xfrm>
            <a:off x="502920" y="6574536"/>
            <a:ext cx="310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/>
          </a:p>
        </p:txBody>
      </p:sp>
      <p:sp>
        <p:nvSpPr>
          <p:cNvPr id="299" name="Google Shape;299;g3f58fa2781d_0_2"/>
          <p:cNvSpPr txBox="1"/>
          <p:nvPr/>
        </p:nvSpPr>
        <p:spPr>
          <a:xfrm>
            <a:off x="11384280" y="6565392"/>
            <a:ext cx="3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58fa2781d_0_24"/>
          <p:cNvSpPr txBox="1"/>
          <p:nvPr/>
        </p:nvSpPr>
        <p:spPr>
          <a:xfrm>
            <a:off x="502920" y="310896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412F"/>
                </a:solidFill>
                <a:latin typeface="Play"/>
                <a:ea typeface="Play"/>
                <a:cs typeface="Play"/>
                <a:sym typeface="Play"/>
              </a:rPr>
              <a:t>Limitations and next steps</a:t>
            </a:r>
            <a:endParaRPr/>
          </a:p>
        </p:txBody>
      </p:sp>
      <p:sp>
        <p:nvSpPr>
          <p:cNvPr id="306" name="Google Shape;306;g3f58fa2781d_0_24"/>
          <p:cNvSpPr/>
          <p:nvPr/>
        </p:nvSpPr>
        <p:spPr>
          <a:xfrm>
            <a:off x="502920" y="832104"/>
            <a:ext cx="11201400" cy="13800"/>
          </a:xfrm>
          <a:prstGeom prst="rect">
            <a:avLst/>
          </a:prstGeom>
          <a:solidFill>
            <a:srgbClr val="5D7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58fa2781d_0_24"/>
          <p:cNvSpPr txBox="1"/>
          <p:nvPr/>
        </p:nvSpPr>
        <p:spPr>
          <a:xfrm>
            <a:off x="731520" y="1152144"/>
            <a:ext cx="41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</p:txBody>
      </p:sp>
      <p:sp>
        <p:nvSpPr>
          <p:cNvPr id="308" name="Google Shape;308;g3f58fa2781d_0_24"/>
          <p:cNvSpPr txBox="1"/>
          <p:nvPr/>
        </p:nvSpPr>
        <p:spPr>
          <a:xfrm>
            <a:off x="6446520" y="1152144"/>
            <a:ext cx="4114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sp>
        <p:nvSpPr>
          <p:cNvPr id="309" name="Google Shape;309;g3f58fa2781d_0_24"/>
          <p:cNvSpPr txBox="1"/>
          <p:nvPr/>
        </p:nvSpPr>
        <p:spPr>
          <a:xfrm>
            <a:off x="777240" y="1984248"/>
            <a:ext cx="47091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Only 300 manually labeled alerts.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Labels were assigned by one annotator; inter-rater reliability was not assessed.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Rare classes and rare impact levels had small fixed-test support.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Impact levels were modeled as nominal classes, not ordinal severity.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Alerts are a snapshot of changing park conditions.</a:t>
            </a:r>
            <a:endParaRPr/>
          </a:p>
        </p:txBody>
      </p:sp>
      <p:sp>
        <p:nvSpPr>
          <p:cNvPr id="310" name="Google Shape;310;g3f58fa2781d_0_24"/>
          <p:cNvSpPr txBox="1"/>
          <p:nvPr/>
        </p:nvSpPr>
        <p:spPr>
          <a:xfrm>
            <a:off x="6583680" y="1984248"/>
            <a:ext cx="48006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Use overlapping multi-rater annotation and adjudicate disagreements.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Expand labels across more seasons and rare classes.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Refine the general/minor category and impact-severity definitions.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Test ordinal or cost-sensitive impact models.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1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Evaluate whether labels improve visitor decision-making.</a:t>
            </a:r>
            <a:endParaRPr/>
          </a:p>
        </p:txBody>
      </p:sp>
      <p:sp>
        <p:nvSpPr>
          <p:cNvPr id="311" name="Google Shape;311;g3f58fa2781d_0_24"/>
          <p:cNvSpPr/>
          <p:nvPr/>
        </p:nvSpPr>
        <p:spPr>
          <a:xfrm>
            <a:off x="1783080" y="5623560"/>
            <a:ext cx="8641200" cy="512100"/>
          </a:xfrm>
          <a:prstGeom prst="roundRect">
            <a:avLst>
              <a:gd fmla="val 16667" name="adj"/>
            </a:avLst>
          </a:prstGeom>
          <a:solidFill>
            <a:srgbClr val="F2E7D3"/>
          </a:solidFill>
          <a:ln cap="flat" cmpd="sng" w="9525">
            <a:solidFill>
              <a:srgbClr val="F2E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Impact labels were modeled as a secondary exploratory task: useful, but limited by rare-class support.</a:t>
            </a:r>
            <a:endParaRPr/>
          </a:p>
        </p:txBody>
      </p:sp>
      <p:sp>
        <p:nvSpPr>
          <p:cNvPr id="312" name="Google Shape;312;g3f58fa2781d_0_24"/>
          <p:cNvSpPr txBox="1"/>
          <p:nvPr/>
        </p:nvSpPr>
        <p:spPr>
          <a:xfrm>
            <a:off x="502920" y="6574536"/>
            <a:ext cx="310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/>
          </a:p>
        </p:txBody>
      </p:sp>
      <p:sp>
        <p:nvSpPr>
          <p:cNvPr id="313" name="Google Shape;313;g3f58fa2781d_0_24"/>
          <p:cNvSpPr txBox="1"/>
          <p:nvPr/>
        </p:nvSpPr>
        <p:spPr>
          <a:xfrm>
            <a:off x="11384280" y="6565392"/>
            <a:ext cx="3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D2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Final takeaways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14400" y="1645920"/>
            <a:ext cx="3246120" cy="2011680"/>
          </a:xfrm>
          <a:prstGeom prst="roundRect">
            <a:avLst>
              <a:gd fmla="val 2727" name="adj"/>
            </a:avLst>
          </a:prstGeom>
          <a:solidFill>
            <a:srgbClr val="FFFFFF">
              <a:alpha val="94902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143000" y="196596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Evaluation design mattered.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143000" y="260604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TF-IDF looked much stronger when parks were mixed.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663440" y="1645920"/>
            <a:ext cx="3246120" cy="2011680"/>
          </a:xfrm>
          <a:prstGeom prst="roundRect">
            <a:avLst>
              <a:gd fmla="val 2727" name="adj"/>
            </a:avLst>
          </a:prstGeom>
          <a:solidFill>
            <a:srgbClr val="FFFFFF">
              <a:alpha val="94902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4892040" y="196596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Sentence embeddings were best.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892040" y="260604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Frozen semantic representations outperformed fine-tuning on this small dataset.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412480" y="1645920"/>
            <a:ext cx="3246120" cy="2011680"/>
          </a:xfrm>
          <a:prstGeom prst="roundRect">
            <a:avLst>
              <a:gd fmla="val 2727" name="adj"/>
            </a:avLst>
          </a:prstGeom>
          <a:solidFill>
            <a:srgbClr val="FFFFFF">
              <a:alpha val="94902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8641080" y="196596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3D2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3D2C"/>
                </a:solidFill>
                <a:latin typeface="Arial"/>
                <a:ea typeface="Arial"/>
                <a:cs typeface="Arial"/>
                <a:sym typeface="Arial"/>
              </a:rPr>
              <a:t>Errors were meaningful.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8641080" y="2606040"/>
            <a:ext cx="2788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420"/>
                </a:solidFill>
                <a:latin typeface="Arial"/>
                <a:ea typeface="Arial"/>
                <a:cs typeface="Arial"/>
                <a:sym typeface="Arial"/>
              </a:rPr>
              <a:t>Many mistakes reflected real taxonomy boundaries rather than random failures.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4"/>
          <p:cNvCxnSpPr/>
          <p:nvPr/>
        </p:nvCxnSpPr>
        <p:spPr>
          <a:xfrm>
            <a:off x="1920240" y="4343400"/>
            <a:ext cx="8366760" cy="0"/>
          </a:xfrm>
          <a:prstGeom prst="straightConnector1">
            <a:avLst/>
          </a:prstGeom>
          <a:noFill/>
          <a:ln cap="flat" cmpd="sng" w="25400">
            <a:solidFill>
              <a:srgbClr val="D9C7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4"/>
          <p:cNvSpPr/>
          <p:nvPr/>
        </p:nvSpPr>
        <p:spPr>
          <a:xfrm>
            <a:off x="767600" y="4800600"/>
            <a:ext cx="10022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can help translate official alerts into visitor-facing decisions</a:t>
            </a:r>
            <a:r>
              <a:rPr b="1" lang="en-US" sz="2200">
                <a:solidFill>
                  <a:srgbClr val="FFFFFF"/>
                </a:solidFill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realistic transfer evaluation is essential.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914400" y="6080760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0B8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9D0B8"/>
                </a:solidFill>
                <a:latin typeface="Arial"/>
                <a:ea typeface="Arial"/>
                <a:cs typeface="Arial"/>
                <a:sym typeface="Arial"/>
              </a:rPr>
              <a:t>References: NPS API documentation; Devlin et al. (BERT); Reimers &amp; Gurevych (Sentence-BERT); Sanh et al. (DistilBERT); crisis-text classification literature.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 txBox="1"/>
          <p:nvPr>
            <p:ph idx="4294967295" type="sldNum"/>
          </p:nvPr>
        </p:nvSpPr>
        <p:spPr>
          <a:xfrm>
            <a:off x="1124712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B7B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B7B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1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7d11dd905_0_5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3251F"/>
          </a:solidFill>
          <a:ln cap="flat" cmpd="sng" w="12700">
            <a:solidFill>
              <a:srgbClr val="132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7d11dd905_0_52"/>
          <p:cNvSpPr/>
          <p:nvPr/>
        </p:nvSpPr>
        <p:spPr>
          <a:xfrm>
            <a:off x="822960" y="1417320"/>
            <a:ext cx="1069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Sentence embeddings offered the best balance of semantic transfer, simplicity, and stability for classifying National Park Service alerts.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7d11dd905_0_52"/>
          <p:cNvSpPr/>
          <p:nvPr/>
        </p:nvSpPr>
        <p:spPr>
          <a:xfrm>
            <a:off x="868680" y="2971800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D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7EAD7"/>
                </a:solidFill>
                <a:latin typeface="Arial"/>
                <a:ea typeface="Arial"/>
                <a:cs typeface="Arial"/>
                <a:sym typeface="Arial"/>
              </a:rPr>
              <a:t>The held-out-park evaluation was essential: it showed that model performance depends on whether the model can transfer to parks it has never seen.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7d11dd905_0_52"/>
          <p:cNvSpPr/>
          <p:nvPr/>
        </p:nvSpPr>
        <p:spPr>
          <a:xfrm>
            <a:off x="978408" y="4969764"/>
            <a:ext cx="1837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51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3251F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7d11dd905_0_52"/>
          <p:cNvSpPr txBox="1"/>
          <p:nvPr>
            <p:ph idx="4294967295" type="sldNum"/>
          </p:nvPr>
        </p:nvSpPr>
        <p:spPr>
          <a:xfrm>
            <a:off x="11292840" y="644652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A7A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58fa2781d_0_45"/>
          <p:cNvSpPr txBox="1"/>
          <p:nvPr/>
        </p:nvSpPr>
        <p:spPr>
          <a:xfrm>
            <a:off x="502920" y="310896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412F"/>
                </a:solidFill>
                <a:latin typeface="Play"/>
                <a:ea typeface="Play"/>
                <a:cs typeface="Play"/>
                <a:sym typeface="Play"/>
              </a:rPr>
              <a:t>Appendix: impact-level confusion matrix</a:t>
            </a:r>
            <a:endParaRPr/>
          </a:p>
        </p:txBody>
      </p:sp>
      <p:sp>
        <p:nvSpPr>
          <p:cNvPr id="349" name="Google Shape;349;g3f58fa2781d_0_45"/>
          <p:cNvSpPr/>
          <p:nvPr/>
        </p:nvSpPr>
        <p:spPr>
          <a:xfrm>
            <a:off x="502920" y="832104"/>
            <a:ext cx="11201400" cy="13800"/>
          </a:xfrm>
          <a:prstGeom prst="rect">
            <a:avLst/>
          </a:prstGeom>
          <a:solidFill>
            <a:srgbClr val="5D7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58fa2781d_0_45"/>
          <p:cNvSpPr txBox="1"/>
          <p:nvPr/>
        </p:nvSpPr>
        <p:spPr>
          <a:xfrm>
            <a:off x="512064" y="923544"/>
            <a:ext cx="9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7670"/>
                </a:solidFill>
                <a:latin typeface="Arial"/>
                <a:ea typeface="Arial"/>
                <a:cs typeface="Arial"/>
                <a:sym typeface="Arial"/>
              </a:rPr>
              <a:t>Most mistakes occurred between neighboring levels of practical disruption.</a:t>
            </a:r>
            <a:endParaRPr/>
          </a:p>
        </p:txBody>
      </p:sp>
      <p:pic>
        <p:nvPicPr>
          <p:cNvPr descr="impact_confusion_slide.png" id="351" name="Google Shape;351;g3f58fa2781d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188720"/>
            <a:ext cx="5577841" cy="50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58fa2781d_0_45"/>
          <p:cNvSpPr txBox="1"/>
          <p:nvPr/>
        </p:nvSpPr>
        <p:spPr>
          <a:xfrm>
            <a:off x="6903720" y="1508760"/>
            <a:ext cx="420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Held-out parks, selected model</a:t>
            </a:r>
            <a:endParaRPr/>
          </a:p>
        </p:txBody>
      </p:sp>
      <p:sp>
        <p:nvSpPr>
          <p:cNvPr id="353" name="Google Shape;353;g3f58fa2781d_0_45"/>
          <p:cNvSpPr txBox="1"/>
          <p:nvPr/>
        </p:nvSpPr>
        <p:spPr>
          <a:xfrm>
            <a:off x="6903720" y="2020824"/>
            <a:ext cx="41148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Correct: 33 of 45 alerts.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Errors: 12 alerts.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No direct trip-changing vs. informational/minimal errors.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Informational support was only n = 3.</a:t>
            </a:r>
            <a:endParaRPr/>
          </a:p>
        </p:txBody>
      </p:sp>
      <p:sp>
        <p:nvSpPr>
          <p:cNvPr id="354" name="Google Shape;354;g3f58fa2781d_0_45"/>
          <p:cNvSpPr/>
          <p:nvPr/>
        </p:nvSpPr>
        <p:spPr>
          <a:xfrm>
            <a:off x="6876288" y="4160520"/>
            <a:ext cx="4114800" cy="640200"/>
          </a:xfrm>
          <a:prstGeom prst="roundRect">
            <a:avLst>
              <a:gd fmla="val 16667" name="adj"/>
            </a:avLst>
          </a:prstGeom>
          <a:solidFill>
            <a:srgbClr val="15412F"/>
          </a:solidFill>
          <a:ln cap="flat" cmpd="sng" w="9525">
            <a:solidFill>
              <a:srgbClr val="1541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Takeaway: errors were understandable boundary cases, not random failures.</a:t>
            </a:r>
            <a:endParaRPr/>
          </a:p>
        </p:txBody>
      </p:sp>
      <p:sp>
        <p:nvSpPr>
          <p:cNvPr id="355" name="Google Shape;355;g3f58fa2781d_0_45"/>
          <p:cNvSpPr txBox="1"/>
          <p:nvPr/>
        </p:nvSpPr>
        <p:spPr>
          <a:xfrm>
            <a:off x="6931152" y="5074920"/>
            <a:ext cx="40692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Future ordinal or cost-sensitive models could penalize severe under-classification more heavily.</a:t>
            </a:r>
            <a:endParaRPr/>
          </a:p>
        </p:txBody>
      </p:sp>
      <p:sp>
        <p:nvSpPr>
          <p:cNvPr id="356" name="Google Shape;356;g3f58fa2781d_0_45"/>
          <p:cNvSpPr txBox="1"/>
          <p:nvPr/>
        </p:nvSpPr>
        <p:spPr>
          <a:xfrm>
            <a:off x="502920" y="6574536"/>
            <a:ext cx="310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/>
          </a:p>
        </p:txBody>
      </p:sp>
      <p:sp>
        <p:nvSpPr>
          <p:cNvPr id="357" name="Google Shape;357;g3f58fa2781d_0_45"/>
          <p:cNvSpPr txBox="1"/>
          <p:nvPr/>
        </p:nvSpPr>
        <p:spPr>
          <a:xfrm>
            <a:off x="11384280" y="6565392"/>
            <a:ext cx="3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8fa2781d_0_58"/>
          <p:cNvSpPr txBox="1"/>
          <p:nvPr/>
        </p:nvSpPr>
        <p:spPr>
          <a:xfrm>
            <a:off x="502920" y="310896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412F"/>
                </a:solidFill>
                <a:latin typeface="Play"/>
                <a:ea typeface="Play"/>
                <a:cs typeface="Play"/>
                <a:sym typeface="Play"/>
              </a:rPr>
              <a:t>Appendix: rare-class performance requires caution</a:t>
            </a:r>
            <a:endParaRPr/>
          </a:p>
        </p:txBody>
      </p:sp>
      <p:sp>
        <p:nvSpPr>
          <p:cNvPr id="363" name="Google Shape;363;g3f58fa2781d_0_58"/>
          <p:cNvSpPr/>
          <p:nvPr/>
        </p:nvSpPr>
        <p:spPr>
          <a:xfrm>
            <a:off x="502920" y="832104"/>
            <a:ext cx="11201400" cy="13800"/>
          </a:xfrm>
          <a:prstGeom prst="rect">
            <a:avLst/>
          </a:prstGeom>
          <a:solidFill>
            <a:srgbClr val="5D7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58fa2781d_0_58"/>
          <p:cNvSpPr txBox="1"/>
          <p:nvPr/>
        </p:nvSpPr>
        <p:spPr>
          <a:xfrm>
            <a:off x="512064" y="923544"/>
            <a:ext cx="9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7670"/>
                </a:solidFill>
                <a:latin typeface="Arial"/>
                <a:ea typeface="Arial"/>
                <a:cs typeface="Arial"/>
                <a:sym typeface="Arial"/>
              </a:rPr>
              <a:t>Per-class F1 shows why Macro F1 and support counts matter.</a:t>
            </a:r>
            <a:endParaRPr/>
          </a:p>
        </p:txBody>
      </p:sp>
      <p:pic>
        <p:nvPicPr>
          <p:cNvPr descr="impact_per_class_f1_slide.png" id="365" name="Google Shape;365;g3f58fa2781d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417320"/>
            <a:ext cx="6400799" cy="372401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58fa2781d_0_58"/>
          <p:cNvSpPr txBox="1"/>
          <p:nvPr/>
        </p:nvSpPr>
        <p:spPr>
          <a:xfrm>
            <a:off x="7589520" y="1508760"/>
            <a:ext cx="3474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Class-level reading</a:t>
            </a:r>
            <a:endParaRPr/>
          </a:p>
        </p:txBody>
      </p:sp>
      <p:sp>
        <p:nvSpPr>
          <p:cNvPr id="367" name="Google Shape;367;g3f58fa2781d_0_58"/>
          <p:cNvSpPr txBox="1"/>
          <p:nvPr/>
        </p:nvSpPr>
        <p:spPr>
          <a:xfrm>
            <a:off x="7635240" y="2011680"/>
            <a:ext cx="34746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Trip-changing and preparation alerts were classified with similar F1.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The informational score is unstable because n = 3.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This supports describing the impact analysis as exploratory.</a:t>
            </a:r>
            <a:endParaRPr/>
          </a:p>
        </p:txBody>
      </p:sp>
      <p:sp>
        <p:nvSpPr>
          <p:cNvPr id="368" name="Google Shape;368;g3f58fa2781d_0_58"/>
          <p:cNvSpPr/>
          <p:nvPr/>
        </p:nvSpPr>
        <p:spPr>
          <a:xfrm>
            <a:off x="7571231" y="4224528"/>
            <a:ext cx="3703200" cy="658500"/>
          </a:xfrm>
          <a:prstGeom prst="roundRect">
            <a:avLst>
              <a:gd fmla="val 16667" name="adj"/>
            </a:avLst>
          </a:prstGeom>
          <a:solidFill>
            <a:srgbClr val="F2E7D3"/>
          </a:solidFill>
          <a:ln cap="flat" cmpd="sng" w="9525">
            <a:solidFill>
              <a:srgbClr val="F2E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Main claim: useful signal, not definitive rare-class evidence.</a:t>
            </a:r>
            <a:endParaRPr/>
          </a:p>
        </p:txBody>
      </p:sp>
      <p:sp>
        <p:nvSpPr>
          <p:cNvPr id="369" name="Google Shape;369;g3f58fa2781d_0_58"/>
          <p:cNvSpPr txBox="1"/>
          <p:nvPr/>
        </p:nvSpPr>
        <p:spPr>
          <a:xfrm>
            <a:off x="502920" y="6574536"/>
            <a:ext cx="310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/>
          </a:p>
        </p:txBody>
      </p:sp>
      <p:sp>
        <p:nvSpPr>
          <p:cNvPr id="370" name="Google Shape;370;g3f58fa2781d_0_58"/>
          <p:cNvSpPr txBox="1"/>
          <p:nvPr/>
        </p:nvSpPr>
        <p:spPr>
          <a:xfrm>
            <a:off x="11384280" y="6565392"/>
            <a:ext cx="3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58fa2781d_0_70"/>
          <p:cNvSpPr txBox="1"/>
          <p:nvPr/>
        </p:nvSpPr>
        <p:spPr>
          <a:xfrm>
            <a:off x="502920" y="310896"/>
            <a:ext cx="1078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412F"/>
                </a:solidFill>
                <a:latin typeface="Play"/>
                <a:ea typeface="Play"/>
                <a:cs typeface="Play"/>
                <a:sym typeface="Play"/>
              </a:rPr>
              <a:t>Appendix: impact robustness across held-out park groups</a:t>
            </a:r>
            <a:endParaRPr/>
          </a:p>
        </p:txBody>
      </p:sp>
      <p:sp>
        <p:nvSpPr>
          <p:cNvPr id="376" name="Google Shape;376;g3f58fa2781d_0_70"/>
          <p:cNvSpPr/>
          <p:nvPr/>
        </p:nvSpPr>
        <p:spPr>
          <a:xfrm>
            <a:off x="502920" y="832104"/>
            <a:ext cx="11201400" cy="13800"/>
          </a:xfrm>
          <a:prstGeom prst="rect">
            <a:avLst/>
          </a:prstGeom>
          <a:solidFill>
            <a:srgbClr val="5D7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58fa2781d_0_70"/>
          <p:cNvSpPr txBox="1"/>
          <p:nvPr/>
        </p:nvSpPr>
        <p:spPr>
          <a:xfrm>
            <a:off x="512064" y="923544"/>
            <a:ext cx="987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6E7670"/>
                </a:solidFill>
                <a:latin typeface="Arial"/>
                <a:ea typeface="Arial"/>
                <a:cs typeface="Arial"/>
                <a:sym typeface="Arial"/>
              </a:rPr>
              <a:t>Grouped CV excluded the fixed held-out test set.</a:t>
            </a:r>
            <a:endParaRPr/>
          </a:p>
        </p:txBody>
      </p:sp>
      <p:pic>
        <p:nvPicPr>
          <p:cNvPr descr="impact_grouped_cv_slide.png" id="378" name="Google Shape;378;g3f58fa2781d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399032"/>
            <a:ext cx="6400799" cy="372401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f58fa2781d_0_70"/>
          <p:cNvSpPr txBox="1"/>
          <p:nvPr/>
        </p:nvSpPr>
        <p:spPr>
          <a:xfrm>
            <a:off x="7635240" y="1508760"/>
            <a:ext cx="38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Robustness check</a:t>
            </a:r>
            <a:endParaRPr/>
          </a:p>
        </p:txBody>
      </p:sp>
      <p:sp>
        <p:nvSpPr>
          <p:cNvPr id="380" name="Google Shape;380;g3f58fa2781d_0_70"/>
          <p:cNvSpPr/>
          <p:nvPr/>
        </p:nvSpPr>
        <p:spPr>
          <a:xfrm>
            <a:off x="7635240" y="2048256"/>
            <a:ext cx="3612000" cy="530400"/>
          </a:xfrm>
          <a:prstGeom prst="roundRect">
            <a:avLst>
              <a:gd fmla="val 16667" name="adj"/>
            </a:avLst>
          </a:prstGeom>
          <a:solidFill>
            <a:srgbClr val="15412F"/>
          </a:solidFill>
          <a:ln cap="flat" cmpd="sng" w="9525">
            <a:solidFill>
              <a:srgbClr val="1541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 Macro F1: 0.637</a:t>
            </a:r>
            <a:endParaRPr/>
          </a:p>
        </p:txBody>
      </p:sp>
      <p:sp>
        <p:nvSpPr>
          <p:cNvPr id="381" name="Google Shape;381;g3f58fa2781d_0_70"/>
          <p:cNvSpPr/>
          <p:nvPr/>
        </p:nvSpPr>
        <p:spPr>
          <a:xfrm>
            <a:off x="7635240" y="2697480"/>
            <a:ext cx="3612000" cy="530400"/>
          </a:xfrm>
          <a:prstGeom prst="roundRect">
            <a:avLst>
              <a:gd fmla="val 16667" name="adj"/>
            </a:avLst>
          </a:prstGeom>
          <a:solidFill>
            <a:srgbClr val="15412F"/>
          </a:solidFill>
          <a:ln cap="flat" cmpd="sng" w="9525">
            <a:solidFill>
              <a:srgbClr val="1541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SD: 0.054</a:t>
            </a:r>
            <a:endParaRPr/>
          </a:p>
        </p:txBody>
      </p:sp>
      <p:sp>
        <p:nvSpPr>
          <p:cNvPr id="382" name="Google Shape;382;g3f58fa2781d_0_70"/>
          <p:cNvSpPr/>
          <p:nvPr/>
        </p:nvSpPr>
        <p:spPr>
          <a:xfrm>
            <a:off x="7635240" y="3346704"/>
            <a:ext cx="3612000" cy="530400"/>
          </a:xfrm>
          <a:prstGeom prst="roundRect">
            <a:avLst>
              <a:gd fmla="val 16667" name="adj"/>
            </a:avLst>
          </a:prstGeom>
          <a:solidFill>
            <a:srgbClr val="F2E7D3"/>
          </a:solidFill>
          <a:ln cap="flat" cmpd="sng" w="9525">
            <a:solidFill>
              <a:srgbClr val="F2E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412F"/>
                </a:solidFill>
                <a:latin typeface="Arial"/>
                <a:ea typeface="Arial"/>
                <a:cs typeface="Arial"/>
                <a:sym typeface="Arial"/>
              </a:rPr>
              <a:t>Range: 0.588–0.726</a:t>
            </a:r>
            <a:endParaRPr/>
          </a:p>
        </p:txBody>
      </p:sp>
      <p:sp>
        <p:nvSpPr>
          <p:cNvPr id="383" name="Google Shape;383;g3f58fa2781d_0_70"/>
          <p:cNvSpPr txBox="1"/>
          <p:nvPr/>
        </p:nvSpPr>
        <p:spPr>
          <a:xfrm>
            <a:off x="7680960" y="4206240"/>
            <a:ext cx="3566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Performance was reasonably stable across park groups.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252B27"/>
                </a:solidFill>
                <a:latin typeface="Arial"/>
                <a:ea typeface="Arial"/>
                <a:cs typeface="Arial"/>
                <a:sym typeface="Arial"/>
              </a:rPr>
              <a:t>• This supplements, but does not replace, the fixed held-out test.</a:t>
            </a:r>
            <a:endParaRPr/>
          </a:p>
        </p:txBody>
      </p:sp>
      <p:sp>
        <p:nvSpPr>
          <p:cNvPr id="384" name="Google Shape;384;g3f58fa2781d_0_70"/>
          <p:cNvSpPr txBox="1"/>
          <p:nvPr/>
        </p:nvSpPr>
        <p:spPr>
          <a:xfrm>
            <a:off x="502920" y="6574536"/>
            <a:ext cx="310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From Park Alerts to Hiking Decisions</a:t>
            </a:r>
            <a:endParaRPr/>
          </a:p>
        </p:txBody>
      </p:sp>
      <p:sp>
        <p:nvSpPr>
          <p:cNvPr id="385" name="Google Shape;385;g3f58fa2781d_0_70"/>
          <p:cNvSpPr txBox="1"/>
          <p:nvPr/>
        </p:nvSpPr>
        <p:spPr>
          <a:xfrm>
            <a:off x="11384280" y="6565392"/>
            <a:ext cx="3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D827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2026-07-08T14:50:51Z</dcterms:created>
  <dc:creator>Elizabeth</dc:creator>
</cp:coreProperties>
</file>